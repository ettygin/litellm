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closed investigation with a fix already implemented and tested in our fork, not an open question. The meeting goal is sign-off on the rollout path, not debate about the diagnosis.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wants the shape of the problem and that it is solved. Most important line: this is config-gated, so we can describe the blast radius precisely.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business impact: agents that appear to give up mid-task, broken tool calls, retries that cost tokens and latency. The two symptoms have different causes; we separate them later so we do not conflate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smoking gun. Method: enable log_raw_request_response: true, capture one failing request, compare three numbers (client-sent max_tokens, payload-sent max_tokens, provider's reported figures). If client-sent equals payload-sent, LiteLLM is innocent for that request; if they differ, the rewrite fired.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equality check was a reasonable proxy in 2023 when shared-window completion models dominated. It encodes 'input and output compete for the same budget.' The bug: this proxy is no longer reliable in the current registry.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failure modes. One, underflow risk: large prompts collapse the value toward zero (the code guards the strictly-negative case, but the value still ends up far below what the client asked for). Two, the buffer is provably smaller than tiktoken's typical undercount on Claude and Llama tokenizers, so even the margin is insufficient.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keeps us honest. The tempting but incorrect story is 'LiteLLM has an off-by-one that adds window plus one.' We audited every path; that off-by-one does not exist. The '+1 over' pattern is the fingerprint of a client computing fill-the-window max_tokens and overshooting by one token of estimation error, which the provider rejects. Present truncation as the LiteLLM bug we are fixing; present the hard failure as a client/provider boundary issue that our same fix also reduces. Do not cut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blanket 'set modify_params: false' is not the recommendation: the flag is overloaded, controlling both the buggy rewrite and a set of helpful Anthropic/Bedrock message-format fixes. We need a fix that disables only the rewrite.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Lowest-risk, fastest mitigation; do this regardless of which deeper fix we adopt. Necessary but not sufficient alone, because it depends on configuration discipline across every model entry.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transparent: we built the conditional mode gate, not the env-var toggle; the env var was a discussed fallback. Honest caveat for upstream reviewers: mode == 'completion' is a heuristic proxy, not a guarantee. If a truly shared-window model were ever registered as chat, it would skip the shrink and rely on provider enforcement, which is an acceptable trade because the provider enforces the window authoritatively anyway.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Fastest way to protect production today without forking or waiting on an upstream merge. Clean, sanctioned patch point because the function is resolved through a lazy-import cache. Pair it with Option A so even models we forget to override are safe.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layering. We are not choosing one and discarding the others.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validation step matters for sign-off. Per our conventions, proof-of-fix should be a real proxy hitting a real provider: before state logs MODIFYING MAX TOKENS with a shrunken value; after state forwards the client's value intact.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an owner and a date to each line live in the meeting. The monitoring item turns this from a one-time fix into a regression guard.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Q&amp;A so any engineer can jump straight to the relevant code without interrupting the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26280"/>
            <a:ext cx="12191695" cy="82296"/>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828800"/>
            <a:ext cx="10515600" cy="2377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4000" b="1" i="0">
                <a:solidFill>
                  <a:srgbClr val="FFFFFF"/>
                </a:solidFill>
                <a:latin typeface="Calibri"/>
              </a:rPr>
              <a:t>Silent max_tokens Truncation in LiteLLM</a:t>
            </a:r>
          </a:p>
          <a:p>
            <a:pPr algn="l">
              <a:spcBef>
                <a:spcPts val="0"/>
              </a:spcBef>
              <a:spcAft>
                <a:spcPts val="600"/>
              </a:spcAft>
            </a:pPr>
            <a:r>
              <a:rPr sz="2400" b="0" i="0">
                <a:solidFill>
                  <a:srgbClr val="C9D2E0"/>
                </a:solidFill>
                <a:latin typeface="Calibri"/>
              </a:rPr>
              <a:t>Root Cause Analysis and Remediation Plan</a:t>
            </a:r>
          </a:p>
        </p:txBody>
      </p:sp>
      <p:sp>
        <p:nvSpPr>
          <p:cNvPr id="5" name="Rectangle 4"/>
          <p:cNvSpPr/>
          <p:nvPr/>
        </p:nvSpPr>
        <p:spPr>
          <a:xfrm>
            <a:off x="822960" y="4754880"/>
            <a:ext cx="10515600" cy="1280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400"/>
              </a:spcAft>
            </a:pPr>
            <a:r>
              <a:rPr sz="1500" b="1" i="0">
                <a:solidFill>
                  <a:srgbClr val="C04A2B"/>
                </a:solidFill>
                <a:latin typeface="Calibri"/>
              </a:rPr>
              <a:t>Engineering Investigation  |  LiteLLM 1.88.1</a:t>
            </a:r>
          </a:p>
          <a:p>
            <a:pPr algn="l">
              <a:spcBef>
                <a:spcPts val="0"/>
              </a:spcBef>
              <a:spcAft>
                <a:spcPts val="600"/>
              </a:spcAft>
            </a:pPr>
            <a:r>
              <a:rPr sz="1400" b="0" i="0">
                <a:solidFill>
                  <a:srgbClr val="AFB8C8"/>
                </a:solidFill>
                <a:latin typeface="Calibri"/>
              </a:rPr>
              <a:t>Premature response truncation affecting agent clients; diagnosis, fix, and rollout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READ THIS IF NOTHING ELSE</a:t>
            </a:r>
          </a:p>
          <a:p>
            <a:pPr algn="l">
              <a:spcBef>
                <a:spcPts val="0"/>
              </a:spcBef>
              <a:spcAft>
                <a:spcPts val="600"/>
              </a:spcAft>
            </a:pPr>
            <a:r>
              <a:rPr sz="3000" b="1" i="0">
                <a:solidFill>
                  <a:srgbClr val="1B2A4A"/>
                </a:solidFill>
                <a:latin typeface="Calibri"/>
              </a:rPr>
              <a:t>Executive Summary</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Agent responses were cut off mid-output; some requests failed outright</a:t>
            </a:r>
          </a:p>
          <a:p>
            <a:pPr algn="l">
              <a:spcBef>
                <a:spcPts val="0"/>
              </a:spcBef>
              <a:spcAft>
                <a:spcPts val="1000"/>
              </a:spcAft>
            </a:pPr>
            <a:r>
              <a:rPr sz="1800" b="0" i="0">
                <a:solidFill>
                  <a:srgbClr val="22262C"/>
                </a:solidFill>
                <a:latin typeface="Calibri"/>
              </a:rPr>
              <a:t>•  LiteLLM was silently rewriting the client's max_tokens before sending to the provider</a:t>
            </a:r>
          </a:p>
          <a:p>
            <a:pPr algn="l">
              <a:spcBef>
                <a:spcPts val="0"/>
              </a:spcBef>
              <a:spcAft>
                <a:spcPts val="1000"/>
              </a:spcAft>
            </a:pPr>
            <a:r>
              <a:rPr sz="1800" b="0" i="0">
                <a:solidFill>
                  <a:srgbClr val="22262C"/>
                </a:solidFill>
                <a:latin typeface="Calibri"/>
              </a:rPr>
              <a:t>•  Triggered by a stale heuristic that misclassifies modern high-context models as legacy shared-window models</a:t>
            </a:r>
          </a:p>
          <a:p>
            <a:pPr algn="l">
              <a:spcBef>
                <a:spcPts val="0"/>
              </a:spcBef>
              <a:spcAft>
                <a:spcPts val="1000"/>
              </a:spcAft>
            </a:pPr>
            <a:r>
              <a:rPr sz="1800" b="0" i="0">
                <a:solidFill>
                  <a:srgbClr val="22262C"/>
                </a:solidFill>
                <a:latin typeface="Calibri"/>
              </a:rPr>
              <a:t>•  Only active when modify_params: true is set, so the blast radius is precisely known</a:t>
            </a:r>
          </a:p>
          <a:p>
            <a:pPr algn="l">
              <a:spcBef>
                <a:spcPts val="0"/>
              </a:spcBef>
              <a:spcAft>
                <a:spcPts val="1000"/>
              </a:spcAft>
            </a:pPr>
            <a:r>
              <a:rPr sz="1800" b="0" i="0">
                <a:solidFill>
                  <a:srgbClr val="22262C"/>
                </a:solidFill>
                <a:latin typeface="Calibri"/>
              </a:rPr>
              <a:t>•  Fixed with a one-condition gate; three deployment options range from zero-code config to an upstream patch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THE SYMPTOM</a:t>
            </a:r>
          </a:p>
          <a:p>
            <a:pPr algn="l">
              <a:spcBef>
                <a:spcPts val="0"/>
              </a:spcBef>
              <a:spcAft>
                <a:spcPts val="600"/>
              </a:spcAft>
            </a:pPr>
            <a:r>
              <a:rPr sz="3000" b="1" i="0">
                <a:solidFill>
                  <a:srgbClr val="1B2A4A"/>
                </a:solidFill>
                <a:latin typeface="Calibri"/>
              </a:rPr>
              <a:t>What Users Actually Saw</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Responses terminating early with finish_reason: "length" (OpenAI) or stop_reason: "max_tokens" (Anthropic)</a:t>
            </a:r>
          </a:p>
          <a:p>
            <a:pPr algn="l">
              <a:spcBef>
                <a:spcPts val="0"/>
              </a:spcBef>
              <a:spcAft>
                <a:spcPts val="1000"/>
              </a:spcAft>
            </a:pPr>
            <a:r>
              <a:rPr sz="1800" b="0" i="0">
                <a:solidFill>
                  <a:srgbClr val="22262C"/>
                </a:solidFill>
                <a:latin typeface="Calibri"/>
              </a:rPr>
              <a:t>•  Worse the longer an agent session ran, because the cut scales with prompt size</a:t>
            </a:r>
          </a:p>
          <a:p>
            <a:pPr algn="l">
              <a:spcBef>
                <a:spcPts val="0"/>
              </a:spcBef>
              <a:spcAft>
                <a:spcPts val="1000"/>
              </a:spcAft>
            </a:pPr>
            <a:r>
              <a:rPr sz="1800" b="0" i="0">
                <a:solidFill>
                  <a:srgbClr val="22262C"/>
                </a:solidFill>
                <a:latin typeface="Calibri"/>
              </a:rPr>
              <a:t>•  A second, more disruptive variant: hard failure with ContextWindowExceeded / provider 400</a:t>
            </a:r>
          </a:p>
          <a:p>
            <a:pPr algn="l">
              <a:spcBef>
                <a:spcPts val="0"/>
              </a:spcBef>
              <a:spcAft>
                <a:spcPts val="1000"/>
              </a:spcAft>
            </a:pPr>
            <a:r>
              <a:rPr sz="1800" b="0" i="0">
                <a:solidFill>
                  <a:srgbClr val="22262C"/>
                </a:solidFill>
                <a:latin typeface="Calibri"/>
              </a:rPr>
              <a:t>•  Intermittent and config-dependent, which made it hard to pin down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THE PROOF</a:t>
            </a:r>
          </a:p>
          <a:p>
            <a:pPr algn="l">
              <a:spcBef>
                <a:spcPts val="0"/>
              </a:spcBef>
              <a:spcAft>
                <a:spcPts val="600"/>
              </a:spcAft>
            </a:pPr>
            <a:r>
              <a:rPr sz="3000" b="1" i="0">
                <a:solidFill>
                  <a:srgbClr val="1B2A4A"/>
                </a:solidFill>
                <a:latin typeface="Calibri"/>
              </a:rPr>
              <a:t>The Log Signature That Confirmed It</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With --detailed_debug, the proxy emits a literal MODIFYING MAX TOKENS line</a:t>
            </a:r>
          </a:p>
          <a:p>
            <a:pPr algn="l">
              <a:spcBef>
                <a:spcPts val="0"/>
              </a:spcBef>
              <a:spcAft>
                <a:spcPts val="1000"/>
              </a:spcAft>
            </a:pPr>
            <a:r>
              <a:rPr sz="1800" b="0" i="0">
                <a:solidFill>
                  <a:srgbClr val="22262C"/>
                </a:solidFill>
                <a:latin typeface="Calibri"/>
              </a:rPr>
              <a:t>•  It prints the original user_max_tokens, the counted input_tokens, and the model's max_output_tokens</a:t>
            </a:r>
          </a:p>
          <a:p>
            <a:pPr algn="l">
              <a:spcBef>
                <a:spcPts val="0"/>
              </a:spcBef>
              <a:spcAft>
                <a:spcPts val="1000"/>
              </a:spcAft>
            </a:pPr>
            <a:r>
              <a:rPr sz="1800" b="0" i="0">
                <a:solidFill>
                  <a:srgbClr val="22262C"/>
                </a:solidFill>
                <a:latin typeface="Calibri"/>
              </a:rPr>
              <a:t>•  Comparing the client-sent value against the raw payload leaving the proxy showed they differed</a:t>
            </a:r>
          </a:p>
          <a:p>
            <a:pPr algn="l">
              <a:spcBef>
                <a:spcPts val="0"/>
              </a:spcBef>
              <a:spcAft>
                <a:spcPts val="1000"/>
              </a:spcAft>
            </a:pPr>
            <a:r>
              <a:rPr sz="1800" b="0" i="0">
                <a:solidFill>
                  <a:srgbClr val="22262C"/>
                </a:solidFill>
                <a:latin typeface="Calibri"/>
              </a:rPr>
              <a:t>•  This proved the truncation originated inside LiteLLM, not in the client or the provider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ROOT CAUSE</a:t>
            </a:r>
          </a:p>
          <a:p>
            <a:pPr algn="l">
              <a:spcBef>
                <a:spcPts val="0"/>
              </a:spcBef>
              <a:spcAft>
                <a:spcPts val="600"/>
              </a:spcAft>
            </a:pPr>
            <a:r>
              <a:rPr sz="3000" b="1" i="0">
                <a:solidFill>
                  <a:srgbClr val="1B2A4A"/>
                </a:solidFill>
                <a:latin typeface="Calibri"/>
              </a:rPr>
              <a:t>Root Cause: get_modified_max_tokens in token_counter.py</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When modify_params is on, LiteLLM recalculates max_tokens per request</a:t>
            </a:r>
          </a:p>
          <a:p>
            <a:pPr algn="l">
              <a:spcBef>
                <a:spcPts val="0"/>
              </a:spcBef>
              <a:spcAft>
                <a:spcPts val="1000"/>
              </a:spcAft>
            </a:pPr>
            <a:r>
              <a:rPr sz="1800" b="0" i="0">
                <a:solidFill>
                  <a:srgbClr val="22262C"/>
                </a:solidFill>
                <a:latin typeface="Calibri"/>
              </a:rPr>
              <a:t>•  Case 1 fires only when model_info["max_input_tokens"] == max_output_tokens</a:t>
            </a:r>
          </a:p>
          <a:p>
            <a:pPr algn="l">
              <a:spcBef>
                <a:spcPts val="0"/>
              </a:spcBef>
              <a:spcAft>
                <a:spcPts val="1000"/>
              </a:spcAft>
            </a:pPr>
            <a:r>
              <a:rPr sz="1800" b="0" i="0">
                <a:solidFill>
                  <a:srgbClr val="22262C"/>
                </a:solidFill>
                <a:latin typeface="Calibri"/>
              </a:rPr>
              <a:t>•  Assumption: equal limits mean a single shared window (like legacy gpt-3.5-turbo)</a:t>
            </a:r>
          </a:p>
          <a:p>
            <a:pPr algn="l">
              <a:spcBef>
                <a:spcPts val="0"/>
              </a:spcBef>
              <a:spcAft>
                <a:spcPts val="1000"/>
              </a:spcAft>
            </a:pPr>
            <a:r>
              <a:rPr sz="1800" b="0" i="0">
                <a:solidFill>
                  <a:srgbClr val="22262C"/>
                </a:solidFill>
                <a:latin typeface="Calibri"/>
              </a:rPr>
              <a:t>•  It then subtracts the prompt: max_tokens = max_output - input_tokens - buffer</a:t>
            </a:r>
          </a:p>
          <a:p>
            <a:pPr algn="l">
              <a:spcBef>
                <a:spcPts val="0"/>
              </a:spcBef>
              <a:spcAft>
                <a:spcPts val="1000"/>
              </a:spcAft>
            </a:pPr>
            <a:r>
              <a:rPr sz="1800" b="0" i="0">
                <a:solidFill>
                  <a:srgbClr val="22262C"/>
                </a:solidFill>
                <a:latin typeface="Calibri"/>
              </a:rPr>
              <a:t>•  The buffer is a thin max(0.1 * input_tokens, 10) based on a local token estimate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ROOT CAUSE</a:t>
            </a:r>
          </a:p>
          <a:p>
            <a:pPr algn="l">
              <a:spcBef>
                <a:spcPts val="0"/>
              </a:spcBef>
              <a:spcAft>
                <a:spcPts val="600"/>
              </a:spcAft>
            </a:pPr>
            <a:r>
              <a:rPr sz="3000" b="1" i="0">
                <a:solidFill>
                  <a:srgbClr val="1B2A4A"/>
                </a:solidFill>
                <a:latin typeface="Calibri"/>
              </a:rPr>
              <a:t>Why It Misfires on Modern Models</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Hundreds of modern chat models list equal input/output limits but have independent budgets</a:t>
            </a:r>
          </a:p>
          <a:p>
            <a:pPr algn="l">
              <a:spcBef>
                <a:spcPts val="0"/>
              </a:spcBef>
              <a:spcAft>
                <a:spcPts val="1000"/>
              </a:spcAft>
            </a:pPr>
            <a:r>
              <a:rPr sz="1800" b="0" i="0">
                <a:solidFill>
                  <a:srgbClr val="22262C"/>
                </a:solidFill>
                <a:latin typeface="Calibri"/>
              </a:rPr>
              <a:t>•  Examples include 256K/256K registry entries and our own 200,000-token configuration</a:t>
            </a:r>
          </a:p>
          <a:p>
            <a:pPr algn="l">
              <a:spcBef>
                <a:spcPts val="0"/>
              </a:spcBef>
              <a:spcAft>
                <a:spcPts val="1000"/>
              </a:spcAft>
            </a:pPr>
            <a:r>
              <a:rPr sz="1800" b="0" i="0">
                <a:solidFill>
                  <a:srgbClr val="22262C"/>
                </a:solidFill>
                <a:latin typeface="Calibri"/>
              </a:rPr>
              <a:t>•  For these, LiteLLM wrongly subtracts the entire prompt from the output cap</a:t>
            </a:r>
          </a:p>
          <a:p>
            <a:pPr algn="l">
              <a:spcBef>
                <a:spcPts val="0"/>
              </a:spcBef>
              <a:spcAft>
                <a:spcPts val="1000"/>
              </a:spcAft>
            </a:pPr>
            <a:r>
              <a:rPr sz="1800" b="0" i="0">
                <a:solidFill>
                  <a:srgbClr val="22262C"/>
                </a:solidFill>
                <a:latin typeface="Calibri"/>
              </a:rPr>
              <a:t>•  Result: max_tokens shrinks as the conversation grows, truncating long agent responses</a:t>
            </a:r>
          </a:p>
          <a:p>
            <a:pPr algn="l">
              <a:spcBef>
                <a:spcPts val="0"/>
              </a:spcBef>
              <a:spcAft>
                <a:spcPts val="1000"/>
              </a:spcAft>
            </a:pPr>
            <a:r>
              <a:rPr sz="1800" b="0" i="0">
                <a:solidFill>
                  <a:srgbClr val="22262C"/>
                </a:solidFill>
                <a:latin typeface="Calibri"/>
              </a:rPr>
              <a:t>•  tiktoken undercounts non-OpenAI tokenizers by 15-20%, larger than the 10% safety buffer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ACCURACY</a:t>
            </a:r>
          </a:p>
          <a:p>
            <a:pPr algn="l">
              <a:spcBef>
                <a:spcPts val="0"/>
              </a:spcBef>
              <a:spcAft>
                <a:spcPts val="600"/>
              </a:spcAft>
            </a:pPr>
            <a:r>
              <a:rPr sz="3000" b="1" i="0">
                <a:solidFill>
                  <a:srgbClr val="1B2A4A"/>
                </a:solidFill>
                <a:latin typeface="Calibri"/>
              </a:rPr>
              <a:t>Truncation vs Hard Failure: Different Causes</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Silent truncation: directly caused by the LiteLLM rewrite shrinking max_tokens. Confirmed LiteLLM bug.</a:t>
            </a:r>
          </a:p>
          <a:p>
            <a:pPr algn="l">
              <a:spcBef>
                <a:spcPts val="0"/>
              </a:spcBef>
              <a:spcAft>
                <a:spcPts val="1000"/>
              </a:spcAft>
            </a:pPr>
            <a:r>
              <a:rPr sz="1800" b="0" i="0">
                <a:solidFill>
                  <a:srgbClr val="22262C"/>
                </a:solidFill>
                <a:latin typeface="Calibri"/>
              </a:rPr>
              <a:t>•  Hard ContextWindowExceeded failure: the arithmetic is computed by the provider, with its real tokenizer, and relayed by LiteLLM</a:t>
            </a:r>
          </a:p>
          <a:p>
            <a:pPr algn="l">
              <a:spcBef>
                <a:spcPts val="0"/>
              </a:spcBef>
              <a:spcAft>
                <a:spcPts val="1000"/>
              </a:spcAft>
            </a:pPr>
            <a:r>
              <a:rPr sz="1800" b="0" i="0">
                <a:solidFill>
                  <a:srgbClr val="22262C"/>
                </a:solidFill>
                <a:latin typeface="Calibri"/>
              </a:rPr>
              <a:t>•  LiteLLM does not contain a pre-flight prompt + max_tokens vs window off-by-one; the error is provider-enforced</a:t>
            </a:r>
          </a:p>
          <a:p>
            <a:pPr algn="l">
              <a:spcBef>
                <a:spcPts val="0"/>
              </a:spcBef>
              <a:spcAft>
                <a:spcPts val="1000"/>
              </a:spcAft>
            </a:pPr>
            <a:r>
              <a:rPr sz="1800" b="0" i="0">
                <a:solidFill>
                  <a:srgbClr val="22262C"/>
                </a:solidFill>
                <a:latin typeface="Calibri"/>
              </a:rPr>
              <a:t>•  LiteLLM's real contribution to the hard case: its undercount-prone buffer can leave the rewritten value over budget on large prompts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BLAST RADIUS</a:t>
            </a:r>
          </a:p>
          <a:p>
            <a:pPr algn="l">
              <a:spcBef>
                <a:spcPts val="0"/>
              </a:spcBef>
              <a:spcAft>
                <a:spcPts val="600"/>
              </a:spcAft>
            </a:pPr>
            <a:r>
              <a:rPr sz="3000" b="1" i="0">
                <a:solidFill>
                  <a:srgbClr val="1B2A4A"/>
                </a:solidFill>
                <a:latin typeface="Calibri"/>
              </a:rPr>
              <a:t>When Does This Actually Fire?</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Only when litellm.modify_params (or LITELLM_MODIFY_PARAMS) is enabled</a:t>
            </a:r>
          </a:p>
          <a:p>
            <a:pPr algn="l">
              <a:spcBef>
                <a:spcPts val="0"/>
              </a:spcBef>
              <a:spcAft>
                <a:spcPts val="1000"/>
              </a:spcAft>
            </a:pPr>
            <a:r>
              <a:rPr sz="1800" b="0" i="0">
                <a:solidFill>
                  <a:srgbClr val="22262C"/>
                </a:solidFill>
                <a:latin typeface="Calibri"/>
              </a:rPr>
              <a:t>•  Applies to chat completions, async completions, and the Anthropic /v1/messages path (Claude Code is in scope)</a:t>
            </a:r>
          </a:p>
          <a:p>
            <a:pPr algn="l">
              <a:spcBef>
                <a:spcPts val="0"/>
              </a:spcBef>
              <a:spcAft>
                <a:spcPts val="1000"/>
              </a:spcAft>
            </a:pPr>
            <a:r>
              <a:rPr sz="1800" b="0" i="0">
                <a:solidFill>
                  <a:srgbClr val="22262C"/>
                </a:solidFill>
                <a:latin typeface="Calibri"/>
              </a:rPr>
              <a:t>•  Does not fire when modify_params is off, but turning it off globally disables useful behaviors</a:t>
            </a:r>
          </a:p>
          <a:p>
            <a:pPr algn="l">
              <a:spcBef>
                <a:spcPts val="0"/>
              </a:spcBef>
              <a:spcAft>
                <a:spcPts val="1000"/>
              </a:spcAft>
            </a:pPr>
            <a:r>
              <a:rPr sz="1800" b="0" i="0">
                <a:solidFill>
                  <a:srgbClr val="22262C"/>
                </a:solidFill>
                <a:latin typeface="Calibri"/>
              </a:rPr>
              <a:t>•  Those behaviors include Anthropic tool-call repair and message sanitization</a:t>
            </a:r>
          </a:p>
          <a:p>
            <a:pPr algn="l">
              <a:spcBef>
                <a:spcPts val="0"/>
              </a:spcBef>
              <a:spcAft>
                <a:spcPts val="1000"/>
              </a:spcAft>
            </a:pPr>
            <a:r>
              <a:rPr sz="1800" b="0" i="0">
                <a:solidFill>
                  <a:srgbClr val="22262C"/>
                </a:solidFill>
                <a:latin typeface="Calibri"/>
              </a:rPr>
              <a:t>•  Whether it does damage depends on the registry data for each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SOLUTION OPTION A</a:t>
            </a:r>
          </a:p>
          <a:p>
            <a:pPr algn="l">
              <a:spcBef>
                <a:spcPts val="0"/>
              </a:spcBef>
              <a:spcAft>
                <a:spcPts val="600"/>
              </a:spcAft>
            </a:pPr>
            <a:r>
              <a:rPr sz="3000" b="1" i="0">
                <a:solidFill>
                  <a:srgbClr val="1B2A4A"/>
                </a:solidFill>
                <a:latin typeface="Calibri"/>
              </a:rPr>
              <a:t>Option A: Correct the Model Registry</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Override model_info per deployment so input and output limits are realistic and distinct</a:t>
            </a:r>
          </a:p>
          <a:p>
            <a:pPr algn="l">
              <a:spcBef>
                <a:spcPts val="0"/>
              </a:spcBef>
              <a:spcAft>
                <a:spcPts val="1000"/>
              </a:spcAft>
            </a:pPr>
            <a:r>
              <a:rPr sz="1800" b="0" i="0">
                <a:solidFill>
                  <a:srgbClr val="22262C"/>
                </a:solidFill>
                <a:latin typeface="Calibri"/>
              </a:rPr>
              <a:t>•  Example: 200,000 input vs 4,096 or 64,000 output</a:t>
            </a:r>
          </a:p>
          <a:p>
            <a:pPr algn="l">
              <a:spcBef>
                <a:spcPts val="0"/>
              </a:spcBef>
              <a:spcAft>
                <a:spcPts val="1000"/>
              </a:spcAft>
            </a:pPr>
            <a:r>
              <a:rPr sz="1800" b="0" i="0">
                <a:solidFill>
                  <a:srgbClr val="22262C"/>
                </a:solidFill>
                <a:latin typeface="Calibri"/>
              </a:rPr>
              <a:t>•  Breaking the equality means Case 1 can never trigger; only the harmless output cap remains</a:t>
            </a:r>
          </a:p>
          <a:p>
            <a:pPr algn="l">
              <a:spcBef>
                <a:spcPts val="0"/>
              </a:spcBef>
              <a:spcAft>
                <a:spcPts val="1000"/>
              </a:spcAft>
            </a:pPr>
            <a:r>
              <a:rPr sz="1800" b="0" i="0">
                <a:solidFill>
                  <a:srgbClr val="22262C"/>
                </a:solidFill>
                <a:latin typeface="Calibri"/>
              </a:rPr>
              <a:t>•  Zero code change; pure YAML configuration</a:t>
            </a:r>
          </a:p>
          <a:p>
            <a:pPr algn="l">
              <a:spcBef>
                <a:spcPts val="0"/>
              </a:spcBef>
              <a:spcAft>
                <a:spcPts val="1000"/>
              </a:spcAft>
            </a:pPr>
            <a:r>
              <a:rPr sz="1800" b="0" i="0">
                <a:solidFill>
                  <a:srgbClr val="22262C"/>
                </a:solidFill>
                <a:latin typeface="Calibri"/>
              </a:rPr>
              <a:t>•  Side benefit: improves routing decisions and cost tracking</a:t>
            </a:r>
          </a:p>
          <a:p>
            <a:pPr algn="l" lvl="1">
              <a:spcBef>
                <a:spcPts val="0"/>
              </a:spcBef>
              <a:spcAft>
                <a:spcPts val="600"/>
              </a:spcAft>
            </a:pPr>
            <a:r>
              <a:rPr sz="1600" b="0" i="0">
                <a:solidFill>
                  <a:srgbClr val="555B66"/>
                </a:solidFill>
                <a:latin typeface="Calibri"/>
              </a:rPr>
              <a:t>•  Limitation: relies on every deployment being configured correctly; one stale entry reintroduces risk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SOLUTION OPTION B</a:t>
            </a:r>
          </a:p>
          <a:p>
            <a:pPr algn="l">
              <a:spcBef>
                <a:spcPts val="0"/>
              </a:spcBef>
              <a:spcAft>
                <a:spcPts val="600"/>
              </a:spcAft>
            </a:pPr>
            <a:r>
              <a:rPr sz="3000" b="1" i="0">
                <a:solidFill>
                  <a:srgbClr val="1B2A4A"/>
                </a:solidFill>
                <a:latin typeface="Calibri"/>
              </a:rPr>
              <a:t>Option B: Fix the Logic at the Source</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Add one condition so the shrink only applies to genuine legacy models: mode == "completion" plus the equality check</a:t>
            </a:r>
          </a:p>
          <a:p>
            <a:pPr algn="l">
              <a:spcBef>
                <a:spcPts val="0"/>
              </a:spcBef>
              <a:spcAft>
                <a:spcPts val="1000"/>
              </a:spcAft>
            </a:pPr>
            <a:r>
              <a:rPr sz="1800" b="0" i="0">
                <a:solidFill>
                  <a:srgbClr val="22262C"/>
                </a:solidFill>
                <a:latin typeface="Calibri"/>
              </a:rPr>
              <a:t>•  Verified against the live registry: legacy completion models still shrink; modern chat models with equal limits pass through</a:t>
            </a:r>
          </a:p>
          <a:p>
            <a:pPr algn="l">
              <a:spcBef>
                <a:spcPts val="0"/>
              </a:spcBef>
              <a:spcAft>
                <a:spcPts val="1000"/>
              </a:spcAft>
            </a:pPr>
            <a:r>
              <a:rPr sz="1800" b="0" i="0">
                <a:solidFill>
                  <a:srgbClr val="22262C"/>
                </a:solidFill>
                <a:latin typeface="Calibri"/>
              </a:rPr>
              <a:t>•  Implemented in our fork with regression tests for both scenarios; lint and formatter clean</a:t>
            </a:r>
          </a:p>
          <a:p>
            <a:pPr algn="l">
              <a:spcBef>
                <a:spcPts val="0"/>
              </a:spcBef>
              <a:spcAft>
                <a:spcPts val="1000"/>
              </a:spcAft>
            </a:pPr>
            <a:r>
              <a:rPr sz="1800" b="0" i="0">
                <a:solidFill>
                  <a:srgbClr val="22262C"/>
                </a:solidFill>
                <a:latin typeface="Calibri"/>
              </a:rPr>
              <a:t>•  Path to an upstream pull request so we stop carrying a private patch</a:t>
            </a:r>
          </a:p>
          <a:p>
            <a:pPr algn="l">
              <a:spcBef>
                <a:spcPts val="0"/>
              </a:spcBef>
              <a:spcAft>
                <a:spcPts val="1000"/>
              </a:spcAft>
            </a:pPr>
            <a:r>
              <a:rPr sz="1800" b="0" i="0">
                <a:solidFill>
                  <a:srgbClr val="22262C"/>
                </a:solidFill>
                <a:latin typeface="Calibri"/>
              </a:rPr>
              <a:t>•  An environment-variable passthrough toggle was also considered as a more conservative alternative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SOLUTION OPTION C</a:t>
            </a:r>
          </a:p>
          <a:p>
            <a:pPr algn="l">
              <a:spcBef>
                <a:spcPts val="0"/>
              </a:spcBef>
              <a:spcAft>
                <a:spcPts val="600"/>
              </a:spcAft>
            </a:pPr>
            <a:r>
              <a:rPr sz="3000" b="1" i="0">
                <a:solidFill>
                  <a:srgbClr val="1B2A4A"/>
                </a:solidFill>
                <a:latin typeface="Calibri"/>
              </a:rPr>
              <a:t>Option C: Runtime Override in the Proxy</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At proxy startup, replace the cached function pointer (_get_modified_max_tokens_func) with a passthrough</a:t>
            </a:r>
          </a:p>
          <a:p>
            <a:pPr algn="l">
              <a:spcBef>
                <a:spcPts val="0"/>
              </a:spcBef>
              <a:spcAft>
                <a:spcPts val="1000"/>
              </a:spcAft>
            </a:pPr>
            <a:r>
              <a:rPr sz="1800" b="0" i="0">
                <a:solidFill>
                  <a:srgbClr val="22262C"/>
                </a:solidFill>
                <a:latin typeface="Calibri"/>
              </a:rPr>
              <a:t>•  Neutralizes only the rewrite; every other modify_params behavior is untouched</a:t>
            </a:r>
          </a:p>
          <a:p>
            <a:pPr algn="l">
              <a:spcBef>
                <a:spcPts val="0"/>
              </a:spcBef>
              <a:spcAft>
                <a:spcPts val="1000"/>
              </a:spcAft>
            </a:pPr>
            <a:r>
              <a:rPr sz="1800" b="0" i="0">
                <a:solidFill>
                  <a:srgbClr val="22262C"/>
                </a:solidFill>
                <a:latin typeface="Calibri"/>
              </a:rPr>
              <a:t>•  Survives pip install -U litellm, unlike a source edit</a:t>
            </a:r>
          </a:p>
          <a:p>
            <a:pPr algn="l">
              <a:spcBef>
                <a:spcPts val="0"/>
              </a:spcBef>
              <a:spcAft>
                <a:spcPts val="1000"/>
              </a:spcAft>
            </a:pPr>
            <a:r>
              <a:rPr sz="1800" b="0" i="0">
                <a:solidFill>
                  <a:srgbClr val="22262C"/>
                </a:solidFill>
                <a:latin typeface="Calibri"/>
              </a:rPr>
              <a:t>•  Zero change to the dependency itself; ideal as an immediate production stopgap</a:t>
            </a:r>
          </a:p>
          <a:p>
            <a:pPr algn="l" lvl="1">
              <a:spcBef>
                <a:spcPts val="0"/>
              </a:spcBef>
              <a:spcAft>
                <a:spcPts val="600"/>
              </a:spcAft>
            </a:pPr>
            <a:r>
              <a:rPr sz="1600" b="0" i="0">
                <a:solidFill>
                  <a:srgbClr val="555B66"/>
                </a:solidFill>
                <a:latin typeface="Calibri"/>
              </a:rPr>
              <a:t>•  Limitation: an in-memory override is less visible to future engineers than a tracked code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DECISION MATRIX</a:t>
            </a:r>
          </a:p>
          <a:p>
            <a:pPr algn="l">
              <a:spcBef>
                <a:spcPts val="0"/>
              </a:spcBef>
              <a:spcAft>
                <a:spcPts val="600"/>
              </a:spcAft>
            </a:pPr>
            <a:r>
              <a:rPr sz="3000" b="1" i="0">
                <a:solidFill>
                  <a:srgbClr val="1B2A4A"/>
                </a:solidFill>
                <a:latin typeface="Calibri"/>
              </a:rPr>
              <a:t>Options Compared</a:t>
            </a:r>
          </a:p>
        </p:txBody>
      </p:sp>
      <p:graphicFrame>
        <p:nvGraphicFramePr>
          <p:cNvPr id="5" name="Table 4"/>
          <p:cNvGraphicFramePr>
            <a:graphicFrameLocks noGrp="1"/>
          </p:cNvGraphicFramePr>
          <p:nvPr/>
        </p:nvGraphicFramePr>
        <p:xfrm>
          <a:off x="777240" y="1691640"/>
          <a:ext cx="10607040" cy="3108960"/>
        </p:xfrm>
        <a:graphic>
          <a:graphicData uri="http://schemas.openxmlformats.org/drawingml/2006/table">
            <a:tbl>
              <a:tblPr firstRow="1" bandRow="1">
                <a:tableStyleId>{5C22544A-7EE6-4342-B048-85BDC9FD1C3A}</a:tableStyleId>
              </a:tblPr>
              <a:tblGrid>
                <a:gridCol w="2743200"/>
                <a:gridCol w="1554480"/>
                <a:gridCol w="1645920"/>
                <a:gridCol w="2377440"/>
                <a:gridCol w="2286000"/>
              </a:tblGrid>
              <a:tr h="777240">
                <a:tc>
                  <a:txBody>
                    <a:bodyPr wrap="square"/>
                    <a:lstStyle/>
                    <a:p>
                      <a:r>
                        <a:rPr sz="1600" b="1">
                          <a:solidFill>
                            <a:srgbClr val="FFFFFF"/>
                          </a:solidFill>
                        </a:rPr>
                        <a:t>Option</a:t>
                      </a:r>
                    </a:p>
                  </a:txBody>
                  <a:tcPr marL="109728" marR="73152" anchor="ctr">
                    <a:solidFill>
                      <a:srgbClr val="1B2A4A"/>
                    </a:solidFill>
                  </a:tcPr>
                </a:tc>
                <a:tc>
                  <a:txBody>
                    <a:bodyPr wrap="square"/>
                    <a:lstStyle/>
                    <a:p>
                      <a:r>
                        <a:rPr sz="1600" b="1">
                          <a:solidFill>
                            <a:srgbClr val="FFFFFF"/>
                          </a:solidFill>
                        </a:rPr>
                        <a:t>Effort</a:t>
                      </a:r>
                    </a:p>
                  </a:txBody>
                  <a:tcPr marL="109728" marR="73152" anchor="ctr">
                    <a:solidFill>
                      <a:srgbClr val="1B2A4A"/>
                    </a:solidFill>
                  </a:tcPr>
                </a:tc>
                <a:tc>
                  <a:txBody>
                    <a:bodyPr wrap="square"/>
                    <a:lstStyle/>
                    <a:p>
                      <a:r>
                        <a:rPr sz="1600" b="1">
                          <a:solidFill>
                            <a:srgbClr val="FFFFFF"/>
                          </a:solidFill>
                        </a:rPr>
                        <a:t>Risk</a:t>
                      </a:r>
                    </a:p>
                  </a:txBody>
                  <a:tcPr marL="109728" marR="73152" anchor="ctr">
                    <a:solidFill>
                      <a:srgbClr val="1B2A4A"/>
                    </a:solidFill>
                  </a:tcPr>
                </a:tc>
                <a:tc>
                  <a:txBody>
                    <a:bodyPr wrap="square"/>
                    <a:lstStyle/>
                    <a:p>
                      <a:r>
                        <a:rPr sz="1600" b="1">
                          <a:solidFill>
                            <a:srgbClr val="FFFFFF"/>
                          </a:solidFill>
                        </a:rPr>
                        <a:t>Scope</a:t>
                      </a:r>
                    </a:p>
                  </a:txBody>
                  <a:tcPr marL="109728" marR="73152" anchor="ctr">
                    <a:solidFill>
                      <a:srgbClr val="1B2A4A"/>
                    </a:solidFill>
                  </a:tcPr>
                </a:tc>
                <a:tc>
                  <a:txBody>
                    <a:bodyPr wrap="square"/>
                    <a:lstStyle/>
                    <a:p>
                      <a:r>
                        <a:rPr sz="1600" b="1">
                          <a:solidFill>
                            <a:srgbClr val="FFFFFF"/>
                          </a:solidFill>
                        </a:rPr>
                        <a:t>Permanence</a:t>
                      </a:r>
                    </a:p>
                  </a:txBody>
                  <a:tcPr marL="109728" marR="73152" anchor="ctr">
                    <a:solidFill>
                      <a:srgbClr val="1B2A4A"/>
                    </a:solidFill>
                  </a:tcPr>
                </a:tc>
              </a:tr>
              <a:tr h="777240">
                <a:tc>
                  <a:txBody>
                    <a:bodyPr wrap="square"/>
                    <a:lstStyle/>
                    <a:p>
                      <a:r>
                        <a:rPr sz="1400" b="1">
                          <a:solidFill>
                            <a:srgbClr val="22262C"/>
                          </a:solidFill>
                        </a:rPr>
                        <a:t>A. Registry config</a:t>
                      </a:r>
                    </a:p>
                  </a:txBody>
                  <a:tcPr marL="109728" marR="73152" anchor="ctr">
                    <a:solidFill>
                      <a:srgbClr val="FFFFFF"/>
                    </a:solidFill>
                  </a:tcPr>
                </a:tc>
                <a:tc>
                  <a:txBody>
                    <a:bodyPr wrap="square"/>
                    <a:lstStyle/>
                    <a:p>
                      <a:r>
                        <a:rPr sz="1400" b="0">
                          <a:solidFill>
                            <a:srgbClr val="22262C"/>
                          </a:solidFill>
                        </a:rPr>
                        <a:t>Low</a:t>
                      </a:r>
                    </a:p>
                  </a:txBody>
                  <a:tcPr marL="109728" marR="73152" anchor="ctr">
                    <a:solidFill>
                      <a:srgbClr val="FFFFFF"/>
                    </a:solidFill>
                  </a:tcPr>
                </a:tc>
                <a:tc>
                  <a:txBody>
                    <a:bodyPr wrap="square"/>
                    <a:lstStyle/>
                    <a:p>
                      <a:r>
                        <a:rPr sz="1400" b="0">
                          <a:solidFill>
                            <a:srgbClr val="22262C"/>
                          </a:solidFill>
                        </a:rPr>
                        <a:t>Low</a:t>
                      </a:r>
                    </a:p>
                  </a:txBody>
                  <a:tcPr marL="109728" marR="73152" anchor="ctr">
                    <a:solidFill>
                      <a:srgbClr val="FFFFFF"/>
                    </a:solidFill>
                  </a:tcPr>
                </a:tc>
                <a:tc>
                  <a:txBody>
                    <a:bodyPr wrap="square"/>
                    <a:lstStyle/>
                    <a:p>
                      <a:r>
                        <a:rPr sz="1400" b="0">
                          <a:solidFill>
                            <a:srgbClr val="22262C"/>
                          </a:solidFill>
                        </a:rPr>
                        <a:t>Per-deployment</a:t>
                      </a:r>
                    </a:p>
                  </a:txBody>
                  <a:tcPr marL="109728" marR="73152" anchor="ctr">
                    <a:solidFill>
                      <a:srgbClr val="FFFFFF"/>
                    </a:solidFill>
                  </a:tcPr>
                </a:tc>
                <a:tc>
                  <a:txBody>
                    <a:bodyPr wrap="square"/>
                    <a:lstStyle/>
                    <a:p>
                      <a:r>
                        <a:rPr sz="1400" b="0">
                          <a:solidFill>
                            <a:srgbClr val="22262C"/>
                          </a:solidFill>
                        </a:rPr>
                        <a:t>Depends on discipline</a:t>
                      </a:r>
                    </a:p>
                  </a:txBody>
                  <a:tcPr marL="109728" marR="73152" anchor="ctr">
                    <a:solidFill>
                      <a:srgbClr val="FFFFFF"/>
                    </a:solidFill>
                  </a:tcPr>
                </a:tc>
              </a:tr>
              <a:tr h="777240">
                <a:tc>
                  <a:txBody>
                    <a:bodyPr wrap="square"/>
                    <a:lstStyle/>
                    <a:p>
                      <a:r>
                        <a:rPr sz="1400" b="1">
                          <a:solidFill>
                            <a:srgbClr val="22262C"/>
                          </a:solidFill>
                        </a:rPr>
                        <a:t>B. Upstream fix</a:t>
                      </a:r>
                    </a:p>
                  </a:txBody>
                  <a:tcPr marL="109728" marR="73152" anchor="ctr">
                    <a:solidFill>
                      <a:srgbClr val="EAE5DA"/>
                    </a:solidFill>
                  </a:tcPr>
                </a:tc>
                <a:tc>
                  <a:txBody>
                    <a:bodyPr wrap="square"/>
                    <a:lstStyle/>
                    <a:p>
                      <a:r>
                        <a:rPr sz="1400" b="0">
                          <a:solidFill>
                            <a:srgbClr val="22262C"/>
                          </a:solidFill>
                        </a:rPr>
                        <a:t>Medium</a:t>
                      </a:r>
                    </a:p>
                  </a:txBody>
                  <a:tcPr marL="109728" marR="73152" anchor="ctr">
                    <a:solidFill>
                      <a:srgbClr val="EAE5DA"/>
                    </a:solidFill>
                  </a:tcPr>
                </a:tc>
                <a:tc>
                  <a:txBody>
                    <a:bodyPr wrap="square"/>
                    <a:lstStyle/>
                    <a:p>
                      <a:r>
                        <a:rPr sz="1400" b="0">
                          <a:solidFill>
                            <a:srgbClr val="22262C"/>
                          </a:solidFill>
                        </a:rPr>
                        <a:t>Low</a:t>
                      </a:r>
                    </a:p>
                  </a:txBody>
                  <a:tcPr marL="109728" marR="73152" anchor="ctr">
                    <a:solidFill>
                      <a:srgbClr val="EAE5DA"/>
                    </a:solidFill>
                  </a:tcPr>
                </a:tc>
                <a:tc>
                  <a:txBody>
                    <a:bodyPr wrap="square"/>
                    <a:lstStyle/>
                    <a:p>
                      <a:r>
                        <a:rPr sz="1400" b="0">
                          <a:solidFill>
                            <a:srgbClr val="22262C"/>
                          </a:solidFill>
                        </a:rPr>
                        <a:t>Global, correct</a:t>
                      </a:r>
                    </a:p>
                  </a:txBody>
                  <a:tcPr marL="109728" marR="73152" anchor="ctr">
                    <a:solidFill>
                      <a:srgbClr val="EAE5DA"/>
                    </a:solidFill>
                  </a:tcPr>
                </a:tc>
                <a:tc>
                  <a:txBody>
                    <a:bodyPr wrap="square"/>
                    <a:lstStyle/>
                    <a:p>
                      <a:r>
                        <a:rPr sz="1400" b="0">
                          <a:solidFill>
                            <a:srgbClr val="22262C"/>
                          </a:solidFill>
                        </a:rPr>
                        <a:t>High; retires the fork</a:t>
                      </a:r>
                    </a:p>
                  </a:txBody>
                  <a:tcPr marL="109728" marR="73152" anchor="ctr">
                    <a:solidFill>
                      <a:srgbClr val="EAE5DA"/>
                    </a:solidFill>
                  </a:tcPr>
                </a:tc>
              </a:tr>
              <a:tr h="777240">
                <a:tc>
                  <a:txBody>
                    <a:bodyPr wrap="square"/>
                    <a:lstStyle/>
                    <a:p>
                      <a:r>
                        <a:rPr sz="1400" b="1">
                          <a:solidFill>
                            <a:srgbClr val="22262C"/>
                          </a:solidFill>
                        </a:rPr>
                        <a:t>C. Runtime patch</a:t>
                      </a:r>
                    </a:p>
                  </a:txBody>
                  <a:tcPr marL="109728" marR="73152" anchor="ctr">
                    <a:solidFill>
                      <a:srgbClr val="FFFFFF"/>
                    </a:solidFill>
                  </a:tcPr>
                </a:tc>
                <a:tc>
                  <a:txBody>
                    <a:bodyPr wrap="square"/>
                    <a:lstStyle/>
                    <a:p>
                      <a:r>
                        <a:rPr sz="1400" b="0">
                          <a:solidFill>
                            <a:srgbClr val="22262C"/>
                          </a:solidFill>
                        </a:rPr>
                        <a:t>Low</a:t>
                      </a:r>
                    </a:p>
                  </a:txBody>
                  <a:tcPr marL="109728" marR="73152" anchor="ctr">
                    <a:solidFill>
                      <a:srgbClr val="FFFFFF"/>
                    </a:solidFill>
                  </a:tcPr>
                </a:tc>
                <a:tc>
                  <a:txBody>
                    <a:bodyPr wrap="square"/>
                    <a:lstStyle/>
                    <a:p>
                      <a:r>
                        <a:rPr sz="1400" b="0">
                          <a:solidFill>
                            <a:srgbClr val="22262C"/>
                          </a:solidFill>
                        </a:rPr>
                        <a:t>Very low</a:t>
                      </a:r>
                    </a:p>
                  </a:txBody>
                  <a:tcPr marL="109728" marR="73152" anchor="ctr">
                    <a:solidFill>
                      <a:srgbClr val="FFFFFF"/>
                    </a:solidFill>
                  </a:tcPr>
                </a:tc>
                <a:tc>
                  <a:txBody>
                    <a:bodyPr wrap="square"/>
                    <a:lstStyle/>
                    <a:p>
                      <a:r>
                        <a:rPr sz="1400" b="0">
                          <a:solidFill>
                            <a:srgbClr val="22262C"/>
                          </a:solidFill>
                        </a:rPr>
                        <a:t>Global</a:t>
                      </a:r>
                    </a:p>
                  </a:txBody>
                  <a:tcPr marL="109728" marR="73152" anchor="ctr">
                    <a:solidFill>
                      <a:srgbClr val="FFFFFF"/>
                    </a:solidFill>
                  </a:tcPr>
                </a:tc>
                <a:tc>
                  <a:txBody>
                    <a:bodyPr wrap="square"/>
                    <a:lstStyle/>
                    <a:p>
                      <a:r>
                        <a:rPr sz="1400" b="0">
                          <a:solidFill>
                            <a:srgbClr val="22262C"/>
                          </a:solidFill>
                        </a:rPr>
                        <a:t>Immediate stopgap</a:t>
                      </a:r>
                    </a:p>
                  </a:txBody>
                  <a:tcPr marL="109728" marR="73152" anchor="ctr">
                    <a:solidFill>
                      <a:srgbClr val="FFFFFF"/>
                    </a:solidFill>
                  </a:tcPr>
                </a:tc>
              </a:tr>
            </a:tbl>
          </a:graphicData>
        </a:graphic>
      </p:graphicFrame>
      <p:sp>
        <p:nvSpPr>
          <p:cNvPr id="6" name="Rectangle 5"/>
          <p:cNvSpPr/>
          <p:nvPr/>
        </p:nvSpPr>
        <p:spPr>
          <a:xfrm>
            <a:off x="777240" y="5029200"/>
            <a:ext cx="10607040" cy="1188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600"/>
              </a:spcAft>
            </a:pPr>
            <a:r>
              <a:rPr sz="1500" b="0" i="1">
                <a:solidFill>
                  <a:srgbClr val="555B66"/>
                </a:solidFill>
                <a:latin typeface="Calibri"/>
              </a:rPr>
              <a:t>These are complementary, not mutually exclusive: C protects production now, A hardens config and improves routing and cost data, B fixes it for everyone and lets us drop the fork.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RECOMMENDATION</a:t>
            </a:r>
          </a:p>
          <a:p>
            <a:pPr algn="l">
              <a:spcBef>
                <a:spcPts val="0"/>
              </a:spcBef>
              <a:spcAft>
                <a:spcPts val="600"/>
              </a:spcAft>
            </a:pPr>
            <a:r>
              <a:rPr sz="3000" b="1" i="0">
                <a:solidFill>
                  <a:srgbClr val="1B2A4A"/>
                </a:solidFill>
                <a:latin typeface="Calibri"/>
              </a:rPr>
              <a:t>Recommended Path: Layered Rollout</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Immediately: deploy Option C (runtime passthrough) to stop production truncation today</a:t>
            </a:r>
          </a:p>
          <a:p>
            <a:pPr algn="l">
              <a:spcBef>
                <a:spcPts val="0"/>
              </a:spcBef>
              <a:spcAft>
                <a:spcPts val="1000"/>
              </a:spcAft>
            </a:pPr>
            <a:r>
              <a:rPr sz="1800" b="0" i="0">
                <a:solidFill>
                  <a:srgbClr val="22262C"/>
                </a:solidFill>
                <a:latin typeface="Calibri"/>
              </a:rPr>
              <a:t>•  In parallel: apply Option A; correct model_info for our deployments, especially the 200,000-token config</a:t>
            </a:r>
          </a:p>
          <a:p>
            <a:pPr algn="l">
              <a:spcBef>
                <a:spcPts val="0"/>
              </a:spcBef>
              <a:spcAft>
                <a:spcPts val="1000"/>
              </a:spcAft>
            </a:pPr>
            <a:r>
              <a:rPr sz="1800" b="0" i="0">
                <a:solidFill>
                  <a:srgbClr val="22262C"/>
                </a:solidFill>
                <a:latin typeface="Calibri"/>
              </a:rPr>
              <a:t>•  Near term: land Option B upstream so the fix is permanent and we retire the private patch</a:t>
            </a:r>
          </a:p>
          <a:p>
            <a:pPr algn="l">
              <a:spcBef>
                <a:spcPts val="0"/>
              </a:spcBef>
              <a:spcAft>
                <a:spcPts val="1000"/>
              </a:spcAft>
            </a:pPr>
            <a:r>
              <a:rPr sz="1800" b="0" i="0">
                <a:solidFill>
                  <a:srgbClr val="22262C"/>
                </a:solidFill>
                <a:latin typeface="Calibri"/>
              </a:rPr>
              <a:t>•  Validate with a live proof: run the proxy with an equal input/output deployment, send a large max_tokens, confirm the raw provider payload carries the value unmodified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NEXT STEPS</a:t>
            </a:r>
          </a:p>
          <a:p>
            <a:pPr algn="l">
              <a:spcBef>
                <a:spcPts val="0"/>
              </a:spcBef>
              <a:spcAft>
                <a:spcPts val="600"/>
              </a:spcAft>
            </a:pPr>
            <a:r>
              <a:rPr sz="3000" b="1" i="0">
                <a:solidFill>
                  <a:srgbClr val="1B2A4A"/>
                </a:solidFill>
                <a:latin typeface="Calibri"/>
              </a:rPr>
              <a:t>Action Items</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Apply the runtime patch to the production proxy config; confirm MODIFYING MAX TOKENS no longer appears</a:t>
            </a:r>
          </a:p>
          <a:p>
            <a:pPr algn="l">
              <a:spcBef>
                <a:spcPts val="0"/>
              </a:spcBef>
              <a:spcAft>
                <a:spcPts val="1000"/>
              </a:spcAft>
            </a:pPr>
            <a:r>
              <a:rPr sz="1800" b="0" i="0">
                <a:solidFill>
                  <a:srgbClr val="22262C"/>
                </a:solidFill>
                <a:latin typeface="Calibri"/>
              </a:rPr>
              <a:t>•  Audit all model_info entries for input/output equality and correct them</a:t>
            </a:r>
          </a:p>
          <a:p>
            <a:pPr algn="l">
              <a:spcBef>
                <a:spcPts val="0"/>
              </a:spcBef>
              <a:spcAft>
                <a:spcPts val="1000"/>
              </a:spcAft>
            </a:pPr>
            <a:r>
              <a:rPr sz="1800" b="0" i="0">
                <a:solidFill>
                  <a:srgbClr val="22262C"/>
                </a:solidFill>
                <a:latin typeface="Calibri"/>
              </a:rPr>
              <a:t>•  Open the upstream pull request from our fork branch with the conditional fix and regression tests</a:t>
            </a:r>
          </a:p>
          <a:p>
            <a:pPr algn="l">
              <a:spcBef>
                <a:spcPts val="0"/>
              </a:spcBef>
              <a:spcAft>
                <a:spcPts val="1000"/>
              </a:spcAft>
            </a:pPr>
            <a:r>
              <a:rPr sz="1800" b="0" i="0">
                <a:solidFill>
                  <a:srgbClr val="22262C"/>
                </a:solidFill>
                <a:latin typeface="Calibri"/>
              </a:rPr>
              <a:t>•  Add monitoring that alerts if finish_reason: "length" rates rise again</a:t>
            </a:r>
          </a:p>
          <a:p>
            <a:pPr algn="l">
              <a:spcBef>
                <a:spcPts val="0"/>
              </a:spcBef>
              <a:spcAft>
                <a:spcPts val="1000"/>
              </a:spcAft>
            </a:pPr>
            <a:r>
              <a:rPr sz="1800" b="0" i="0">
                <a:solidFill>
                  <a:srgbClr val="22262C"/>
                </a:solidFill>
                <a:latin typeface="Calibri"/>
              </a:rPr>
              <a:t>•  Decide whether to keep modify_params on (recommended, to retain Anthropic message-repair behaviors)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0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11480"/>
            <a:ext cx="1115568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1" i="0">
                <a:solidFill>
                  <a:srgbClr val="C04A2B"/>
                </a:solidFill>
                <a:latin typeface="Calibri"/>
              </a:rPr>
              <a:t>APPENDIX</a:t>
            </a:r>
          </a:p>
          <a:p>
            <a:pPr algn="l">
              <a:spcBef>
                <a:spcPts val="0"/>
              </a:spcBef>
              <a:spcAft>
                <a:spcPts val="600"/>
              </a:spcAft>
            </a:pPr>
            <a:r>
              <a:rPr sz="3000" b="1" i="0">
                <a:solidFill>
                  <a:srgbClr val="1B2A4A"/>
                </a:solidFill>
                <a:latin typeface="Calibri"/>
              </a:rPr>
              <a:t>Appendix: Technical Reference</a:t>
            </a:r>
          </a:p>
        </p:txBody>
      </p:sp>
      <p:sp>
        <p:nvSpPr>
          <p:cNvPr id="5" name="Rectangle 4"/>
          <p:cNvSpPr/>
          <p:nvPr/>
        </p:nvSpPr>
        <p:spPr>
          <a:xfrm>
            <a:off x="777240" y="1600200"/>
            <a:ext cx="1060704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Bef>
                <a:spcPts val="0"/>
              </a:spcBef>
              <a:spcAft>
                <a:spcPts val="1000"/>
              </a:spcAft>
            </a:pPr>
            <a:r>
              <a:rPr sz="1800" b="0" i="0">
                <a:solidFill>
                  <a:srgbClr val="22262C"/>
                </a:solidFill>
                <a:latin typeface="Calibri"/>
              </a:rPr>
              <a:t>•  File: litellm/litellm_core_utils/token_counter.py, function get_modified_max_tokens</a:t>
            </a:r>
          </a:p>
          <a:p>
            <a:pPr algn="l">
              <a:spcBef>
                <a:spcPts val="0"/>
              </a:spcBef>
              <a:spcAft>
                <a:spcPts val="1000"/>
              </a:spcAft>
            </a:pPr>
            <a:r>
              <a:rPr sz="1800" b="0" i="0">
                <a:solidFill>
                  <a:srgbClr val="22262C"/>
                </a:solidFill>
                <a:latin typeface="Calibri"/>
              </a:rPr>
              <a:t>•  Wrapper gate: litellm/utils.py, the CHECK MAX TOKENS blocks, gated on modify_params and call type</a:t>
            </a:r>
          </a:p>
          <a:p>
            <a:pPr algn="l">
              <a:spcBef>
                <a:spcPts val="0"/>
              </a:spcBef>
              <a:spcAft>
                <a:spcPts val="1000"/>
              </a:spcAft>
            </a:pPr>
            <a:r>
              <a:rPr sz="1800" b="0" i="0">
                <a:solidFill>
                  <a:srgbClr val="22262C"/>
                </a:solidFill>
                <a:latin typeface="Calibri"/>
              </a:rPr>
              <a:t>•  Patch point: litellm/_lazy_imports.py, _get_modified_max_tokens_func</a:t>
            </a:r>
          </a:p>
          <a:p>
            <a:pPr algn="l">
              <a:spcBef>
                <a:spcPts val="0"/>
              </a:spcBef>
              <a:spcAft>
                <a:spcPts val="1000"/>
              </a:spcAft>
            </a:pPr>
            <a:r>
              <a:rPr sz="1800" b="0" i="0">
                <a:solidFill>
                  <a:srgbClr val="22262C"/>
                </a:solidFill>
                <a:latin typeface="Calibri"/>
              </a:rPr>
              <a:t>•  Version audited: 1.88.1; the fix and tests apply cleanly on our fork</a:t>
            </a:r>
          </a:p>
          <a:p>
            <a:pPr algn="l">
              <a:spcBef>
                <a:spcPts val="0"/>
              </a:spcBef>
              <a:spcAft>
                <a:spcPts val="1000"/>
              </a:spcAft>
            </a:pPr>
            <a:r>
              <a:rPr sz="1800" b="0" i="0">
                <a:solidFill>
                  <a:srgbClr val="22262C"/>
                </a:solidFill>
                <a:latin typeface="Calibri"/>
              </a:rPr>
              <a:t>•  Diagnostic toggle: litellm_settings: log_raw_request_response: true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